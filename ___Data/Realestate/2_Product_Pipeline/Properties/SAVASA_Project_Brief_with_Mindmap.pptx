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SAVASA Project Intelligence Brief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Sales Strategy &amp; Market Positioning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SAVASA Winning Edge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Panasonic Homes x Sinarmas Land: 60+ years of trust.</a:t>
            </a:r>
          </a:p>
          <a:p>
            <a:r>
              <a:t>Smart Tech: CAMS &amp; PowerTech WPC for efficiency.</a:t>
            </a:r>
          </a:p>
          <a:p>
            <a:r>
              <a:t>Location: Heart of Deltamas, near AEON &amp; GIIC.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Sales Strategy Mind 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0" y="2971800"/>
            <a:ext cx="1828800" cy="91440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Lead Gen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72200" y="3063240"/>
            <a:ext cx="1371600" cy="731520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Meta Ads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.0" y="3429000.0"/>
            <a:ext cx="2286000.0" cy="0.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029200" y="5042974"/>
            <a:ext cx="1371600" cy="731520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TikTok Organic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.0" y="3429000.0"/>
            <a:ext cx="1143000.0" cy="1979734.0730512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743200" y="5042974"/>
            <a:ext cx="1371600" cy="731520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HR GIIC Referral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429000.0000000005" y="3429000.0"/>
            <a:ext cx="1142999.9999999995" cy="1979734.073051227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600200" y="3063240"/>
            <a:ext cx="1371600" cy="731520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Expat Networks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2286000.0" y="3429000.0"/>
            <a:ext cx="2286000.0" cy="4.656612873077393e-1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743199" y="1083505"/>
            <a:ext cx="1371600" cy="731520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Walk-in Gallery</a:t>
            </a:r>
          </a:p>
        </p:txBody>
      </p:sp>
      <p:cxnSp>
        <p:nvCxnSpPr>
          <p:cNvPr id="13" name="Connector 12"/>
          <p:cNvCxnSpPr/>
          <p:nvPr/>
        </p:nvCxnSpPr>
        <p:spPr>
          <a:xfrm flipH="1" flipV="1">
            <a:off x="3428999.999999999" y="1449265.9269487737"/>
            <a:ext cx="1143000.000000001" cy="1979734.0730512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5029200" y="1083505"/>
            <a:ext cx="1371600" cy="731520"/>
          </a:xfrm>
          <a:prstGeom prst="rect">
            <a:avLst/>
          </a:prstGeom>
          <a:solidFill>
            <a:srgbClr val="92D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360 Virtual Tours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4572000.0" y="1449265.9269487734"/>
            <a:ext cx="1143000.0" cy="1979734.07305122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Target Segments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Priority A: GIIC Professionals (Income 15-40M/mo).</a:t>
            </a:r>
          </a:p>
          <a:p>
            <a:r>
              <a:t>Priority B: Japanese Expats (High-quality standards).</a:t>
            </a:r>
          </a:p>
          <a:p>
            <a:r>
              <a:t>Priority C: Investors (30% growth target by 2026).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90-Day Execution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Month 1: Foundation - Product mastery &amp; CRM setup.</a:t>
            </a:r>
          </a:p>
          <a:p>
            <a:r>
              <a:t>Month 2: Execution - Meta Ads trial &amp; HR partnerships.</a:t>
            </a:r>
          </a:p>
          <a:p>
            <a:r>
              <a:t>Month 3: Scale - Referral programs &amp; data optimization.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